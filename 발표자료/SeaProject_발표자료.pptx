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0B3A5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926080"/>
            <a:ext cx="8229600" cy="5486400"/>
          </a:xfrm>
          <a:prstGeom prst="ellipse">
            <a:avLst/>
          </a:prstGeom>
          <a:solidFill>
            <a:srgbClr val="0E4D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840480"/>
            <a:ext cx="7315200" cy="6400800"/>
          </a:xfrm>
          <a:prstGeom prst="ellipse">
            <a:avLst/>
          </a:prstGeom>
          <a:solidFill>
            <a:srgbClr val="12869A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C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UNDERWATER  VR  EXPLORATION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 Project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바닷속을 헤엄치며 해양 생물을 발견하고, 나만의 도감을 완성하는 VR 탐험 게임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461772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E3D5C"/>
          </a:solidFill>
          <a:ln w="12700">
            <a:solidFill>
              <a:srgbClr val="1286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617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C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Unreal Engine 5.7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461772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E3D5C"/>
          </a:solidFill>
          <a:ln w="12700">
            <a:solidFill>
              <a:srgbClr val="1286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4617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C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OpenXR (VR)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461772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E3D5C"/>
          </a:solidFill>
          <a:ln w="12700">
            <a:solidFill>
              <a:srgbClr val="128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4617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C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 / Blueprint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8분 발표  +  2분 시연 영상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SeaProject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0B3A5B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69164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플레이어는 VR로 바닷속을 자유롭게 헤엄치며,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손전등 스캔과 소나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해양 생물을 발견·수집해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도감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완성하는 힐링 탐험 게임입니다.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246120"/>
            <a:ext cx="3493008" cy="2926080"/>
          </a:xfrm>
          <a:prstGeom prst="roundRect">
            <a:avLst>
              <a:gd name="adj" fmla="val 3125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3520440"/>
            <a:ext cx="566928" cy="566928"/>
          </a:xfrm>
          <a:prstGeom prst="ellipse">
            <a:avLst/>
          </a:prstGeom>
          <a:solidFill>
            <a:srgbClr val="12869A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32688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몰입형 VR 탐험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47091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헤드셋과 모션 컨트롤러로 진짜 바닷속을 헤엄치는 듯한 1인칭 경험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70832" y="3246120"/>
            <a:ext cx="3493008" cy="2926080"/>
          </a:xfrm>
          <a:prstGeom prst="roundRect">
            <a:avLst>
              <a:gd name="adj" fmla="val 3125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3520440"/>
            <a:ext cx="566928" cy="566928"/>
          </a:xfrm>
          <a:prstGeom prst="ellipse">
            <a:avLst/>
          </a:prstGeom>
          <a:solidFill>
            <a:srgbClr val="0E4D6E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5152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45152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발견과 수집의 재미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45152" y="47091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전투가 아닌 '관찰·수집' 중심. 스캔으로 도감을 채워가는 성취감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83296" y="3246120"/>
            <a:ext cx="3493008" cy="2926080"/>
          </a:xfrm>
          <a:prstGeom prst="roundRect">
            <a:avLst>
              <a:gd name="adj" fmla="val 3125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7616" y="3520440"/>
            <a:ext cx="566928" cy="566928"/>
          </a:xfrm>
          <a:prstGeom prst="ellipse">
            <a:avLst/>
          </a:prstGeom>
          <a:solidFill>
            <a:srgbClr val="FF7A59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57616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수중 생태계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57616" y="47091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물고기가 스스로 헤엄치고, 다가가면 반응하며 도망치는 생태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의도 &amp; 차별점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0B3A5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의도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경쟁과 전투에 지친 사람들에게,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느긋하게 바닷속을 거닐며 생명을 관찰하는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'힐링과 몰입'의 경험을 주고 싶었습니다.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VR의 강력한 몰입감 + 도감 수집의 동기부여를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결합해, 누구나 부담 없이 즐기는 탐험을 목표로 했습니다.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53328" y="1737360"/>
            <a:ext cx="5486400" cy="1353312"/>
          </a:xfrm>
          <a:prstGeom prst="roundRect">
            <a:avLst>
              <a:gd name="adj" fmla="val 6757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7648" y="2121408"/>
            <a:ext cx="566928" cy="566928"/>
          </a:xfrm>
          <a:prstGeom prst="ellipse">
            <a:avLst/>
          </a:prstGeom>
          <a:solidFill>
            <a:srgbClr val="FF7A59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27648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86600" y="1938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능동적 스캔 상호작용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86600" y="23957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클릭이 아닌, 손전등을 직접 겨누고 유지하는 손맛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53328" y="3255264"/>
            <a:ext cx="5486400" cy="1353312"/>
          </a:xfrm>
          <a:prstGeom prst="roundRect">
            <a:avLst>
              <a:gd name="adj" fmla="val 6757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3639312"/>
            <a:ext cx="566928" cy="566928"/>
          </a:xfrm>
          <a:prstGeom prst="ellipse">
            <a:avLst/>
          </a:prstGeom>
          <a:solidFill>
            <a:srgbClr val="FF7A59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27648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34564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도감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86600" y="39136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표(DataTable)에 한 줄만 추가하면 새 생물이 바로 등장·등록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53328" y="4773168"/>
            <a:ext cx="5486400" cy="1353312"/>
          </a:xfrm>
          <a:prstGeom prst="roundRect">
            <a:avLst>
              <a:gd name="adj" fmla="val 6757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27648" y="5157216"/>
            <a:ext cx="566928" cy="566928"/>
          </a:xfrm>
          <a:prstGeom prst="ellipse">
            <a:avLst/>
          </a:prstGeom>
          <a:solidFill>
            <a:srgbClr val="FF7A59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27648" y="5157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49743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반응하는 생태계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86600" y="543153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스캔하면 물고기가 반대로 도망 → 살아있다는 긴장감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플레이 루프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탐험하고 → 발견하고 → 스캔하고 → 도감을 채운다. 이 사이클의 반복이 게임의 핵심 재미입니다.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" y="2606040"/>
            <a:ext cx="2542032" cy="2697480"/>
          </a:xfrm>
          <a:prstGeom prst="roundRect">
            <a:avLst>
              <a:gd name="adj" fmla="val 3597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39596" y="2926080"/>
            <a:ext cx="731520" cy="731520"/>
          </a:xfrm>
          <a:prstGeom prst="ellipse">
            <a:avLst/>
          </a:prstGeom>
          <a:solidFill>
            <a:srgbClr val="12869A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39596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4340" y="37947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탐험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17220" y="42976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VR로 바닷속을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자유롭게 유영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30652" y="3429000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C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360420" y="2606040"/>
            <a:ext cx="2542032" cy="2697480"/>
          </a:xfrm>
          <a:prstGeom prst="roundRect">
            <a:avLst>
              <a:gd name="adj" fmla="val 3597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5676" y="2926080"/>
            <a:ext cx="731520" cy="731520"/>
          </a:xfrm>
          <a:prstGeom prst="ellipse">
            <a:avLst/>
          </a:prstGeom>
          <a:solidFill>
            <a:srgbClr val="0E4D6E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65676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60420" y="37947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543300" y="42976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소나·시야로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생물의 위치 포착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6732" y="3429000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C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6286500" y="2606040"/>
            <a:ext cx="2542032" cy="2697480"/>
          </a:xfrm>
          <a:prstGeom prst="roundRect">
            <a:avLst>
              <a:gd name="adj" fmla="val 3597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91756" y="2926080"/>
            <a:ext cx="731520" cy="731520"/>
          </a:xfrm>
          <a:prstGeom prst="ellipse">
            <a:avLst/>
          </a:prstGeom>
          <a:solidFill>
            <a:srgbClr val="FF7A59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91756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86500" y="37947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469380" y="42976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손전등을 겨눠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진행도를 채움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82812" y="3429000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C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212580" y="2606040"/>
            <a:ext cx="2542032" cy="2697480"/>
          </a:xfrm>
          <a:prstGeom prst="roundRect">
            <a:avLst>
              <a:gd name="adj" fmla="val 3597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117836" y="2926080"/>
            <a:ext cx="731520" cy="731520"/>
          </a:xfrm>
          <a:prstGeom prst="ellipse">
            <a:avLst/>
          </a:prstGeom>
          <a:solidFill>
            <a:srgbClr val="1C9B7A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117836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12580" y="37947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395460" y="42976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도감에 영구 등록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(다시 와도 유지)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247388" y="5715000"/>
            <a:ext cx="2542032" cy="502920"/>
          </a:xfrm>
          <a:prstGeom prst="roundRect">
            <a:avLst>
              <a:gd name="adj" fmla="val 49091"/>
            </a:avLst>
          </a:prstGeom>
          <a:solidFill>
            <a:srgbClr val="EAF3F7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47388" y="571500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↻  반복하며 도감 완성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손전등 스캔 시스템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47088"/>
            <a:ext cx="310896" cy="3108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조준 &amp; 유지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17627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물고기에 손전등 콘을 겨누고 트리거를 누르고 있으면 진행도가 차오름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310896" cy="3108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8620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락온(Lock-on)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255264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한번 포착하면 물고기가 도망쳐 시야를 벗어나도 스캔이 계속 진행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005072"/>
            <a:ext cx="310896" cy="3108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94106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물고기별 스캔 시간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4334256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데이터테이블의 ScanTime 값으로 종마다 난이도(소요 시간)가 다름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084064"/>
            <a:ext cx="310896" cy="3108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0200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&amp; 피드백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541324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진행도 UI·루프 사운드, 100% 도달 시 도감 등록 + 완료음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15200" y="178308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0B3A5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6FC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18120" y="2514600"/>
            <a:ext cx="457200" cy="45720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4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손전등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241280" y="3383280"/>
            <a:ext cx="640080" cy="41148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4" name="Text 22"/>
          <p:cNvSpPr/>
          <p:nvPr/>
        </p:nvSpPr>
        <p:spPr>
          <a:xfrm>
            <a:off x="9966960" y="3794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4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물고기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75320" y="2743200"/>
            <a:ext cx="2103120" cy="914400"/>
          </a:xfrm>
          <a:prstGeom prst="line">
            <a:avLst/>
          </a:prstGeom>
          <a:noFill/>
          <a:ln w="19050">
            <a:solidFill>
              <a:srgbClr val="FFC85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726680" y="480060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0A2E47"/>
          </a:solidFill>
          <a:ln w="12700">
            <a:solidFill>
              <a:srgbClr val="1286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48006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6FC9DC"/>
          </a:solidFill>
          <a:ln/>
        </p:spPr>
      </p:sp>
      <p:sp>
        <p:nvSpPr>
          <p:cNvPr id="28" name="Text 26"/>
          <p:cNvSpPr/>
          <p:nvPr/>
        </p:nvSpPr>
        <p:spPr>
          <a:xfrm>
            <a:off x="7726680" y="5303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진행 중...  68%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소나(Sonar) 탐지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5486400" cy="1170432"/>
          </a:xfrm>
          <a:prstGeom prst="roundRect">
            <a:avLst>
              <a:gd name="adj" fmla="val 7813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221992"/>
            <a:ext cx="548640" cy="548640"/>
          </a:xfrm>
          <a:prstGeom prst="ellipse">
            <a:avLst/>
          </a:prstGeom>
          <a:solidFill>
            <a:srgbClr val="0E4D6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21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103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Y버튼으로 가동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25237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왼손 컨트롤러로 소나를 펼쳐 주변 해역을 한 번에 탐지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246120"/>
            <a:ext cx="5486400" cy="1170432"/>
          </a:xfrm>
          <a:prstGeom prst="roundRect">
            <a:avLst>
              <a:gd name="adj" fmla="val 7813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547872"/>
            <a:ext cx="548640" cy="548640"/>
          </a:xfrm>
          <a:prstGeom prst="ellipse">
            <a:avLst/>
          </a:prstGeom>
          <a:solidFill>
            <a:srgbClr val="0E4D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3429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생물 위치 안내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45920" y="38496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감지된 물고기의 방향을 화살표/표시로 알려줘 탐험을 도움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" y="4572000"/>
            <a:ext cx="5486400" cy="1170432"/>
          </a:xfrm>
          <a:prstGeom prst="roundRect">
            <a:avLst>
              <a:gd name="adj" fmla="val 7813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873752"/>
            <a:ext cx="548640" cy="548640"/>
          </a:xfrm>
          <a:prstGeom prst="ellipse">
            <a:avLst/>
          </a:prstGeom>
          <a:solidFill>
            <a:srgbClr val="0E4D6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873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4754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사운드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45920" y="51755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가동음(스윕)과 감지음을 분리 → 탐지 순간의 손맛과 몰입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0B3A5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1531620"/>
            <a:ext cx="4937760" cy="4937760"/>
          </a:xfrm>
          <a:prstGeom prst="ellipse">
            <a:avLst/>
          </a:prstGeom>
          <a:ln w="25400">
            <a:solidFill>
              <a:srgbClr val="6FC9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2171700"/>
            <a:ext cx="3657600" cy="3657600"/>
          </a:xfrm>
          <a:prstGeom prst="ellipse">
            <a:avLst/>
          </a:prstGeom>
          <a:ln w="25400">
            <a:solidFill>
              <a:srgbClr val="6FC9DC">
                <a:alpha val="7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18120" y="2811780"/>
            <a:ext cx="2377440" cy="2377440"/>
          </a:xfrm>
          <a:prstGeom prst="ellipse">
            <a:avLst/>
          </a:prstGeom>
          <a:ln w="25400">
            <a:solidFill>
              <a:srgbClr val="6FC9DC">
                <a:alpha val="5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05672" y="379933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51008" y="2967228"/>
            <a:ext cx="237744" cy="237744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8" name="Shape 26"/>
          <p:cNvSpPr/>
          <p:nvPr/>
        </p:nvSpPr>
        <p:spPr>
          <a:xfrm>
            <a:off x="7150608" y="4521708"/>
            <a:ext cx="237744" cy="237744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9" name="Shape 27"/>
          <p:cNvSpPr/>
          <p:nvPr/>
        </p:nvSpPr>
        <p:spPr>
          <a:xfrm>
            <a:off x="9619488" y="5436108"/>
            <a:ext cx="237744" cy="237744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FC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SONAR PING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도감 시스템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37944"/>
            <a:ext cx="310896" cy="310896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7830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데이터테이블 구동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1762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종별 이름·수심·스테이지·스캔시간·모델/애니를 표 한 줄로 관리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935224"/>
            <a:ext cx="310896" cy="310896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880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영구 수집 저장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27355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GameInstanceSubsystem 에 기록 → 도감을 닫았다 열어도 유지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032504"/>
            <a:ext cx="310896" cy="310896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9776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매칭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437083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대소문자·접두어·오타까지 보정해 정확한 종으로 등록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129784"/>
            <a:ext cx="310896" cy="310896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0749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홀로그램 표시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546811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수집한 종을 홀로그램 도감에 한글 폰트로 출력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178308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35240" y="201168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EAF3F7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2331720"/>
            <a:ext cx="868680" cy="868680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1812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Mandarine Fish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818120" y="43891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0" y="4389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18120" y="47731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0" y="47731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18120" y="51572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스캔시간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0" y="51572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18120" y="55412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0" y="55412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9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바다 — 물고기 AI &amp; 수심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37944"/>
            <a:ext cx="310896" cy="310896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자연스러운 유영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17627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전진·랜덤 방향 전환(wander)으로 살아있는 움직임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935224"/>
            <a:ext cx="310896" cy="310896"/>
          </a:xfrm>
          <a:prstGeom prst="ellipse">
            <a:avLst/>
          </a:prstGeom>
          <a:solidFill>
            <a:srgbClr val="0E4D6E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880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 회피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27355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앞을 미리 감지해 바위·지형에 박히지 않고 부드럽게 회피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032504"/>
            <a:ext cx="310896" cy="3108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수심대 가두기 &amp; 도망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437083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종마다 사는 깊이대 유지, 스캔 당하면 빠르게 도망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129784"/>
            <a:ext cx="310896" cy="310896"/>
          </a:xfrm>
          <a:prstGeom prst="ellipse">
            <a:avLst/>
          </a:prstGeom>
          <a:solidFill>
            <a:srgbClr val="1C9B7A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수심 기반 자동 스폰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546811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수심값대로 깊은 종은 더 깊은 곳에 자동 배치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1783080"/>
            <a:ext cx="4114800" cy="1325880"/>
          </a:xfrm>
          <a:prstGeom prst="rect">
            <a:avLst/>
          </a:prstGeom>
          <a:solidFill>
            <a:srgbClr val="85B9D6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얕은 수심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3524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Bluetang  ·  Clione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515600" y="2651760"/>
            <a:ext cx="146304" cy="146304"/>
          </a:xfrm>
          <a:prstGeom prst="ellipse">
            <a:avLst/>
          </a:prstGeom>
          <a:solidFill>
            <a:srgbClr val="6FC9D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89920" y="2651760"/>
            <a:ext cx="146304" cy="146304"/>
          </a:xfrm>
          <a:prstGeom prst="ellipse">
            <a:avLst/>
          </a:prstGeom>
          <a:solidFill>
            <a:srgbClr val="6FC9DC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64240" y="2651760"/>
            <a:ext cx="146304" cy="146304"/>
          </a:xfrm>
          <a:prstGeom prst="ellipse">
            <a:avLst/>
          </a:prstGeom>
          <a:solidFill>
            <a:srgbClr val="6FC9D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0" y="3154680"/>
            <a:ext cx="4114800" cy="1325880"/>
          </a:xfrm>
          <a:prstGeom prst="rect">
            <a:avLst/>
          </a:prstGeom>
          <a:solidFill>
            <a:srgbClr val="3E84A8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수심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3721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Mandarine  ·  Lionfish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515600" y="4023360"/>
            <a:ext cx="146304" cy="146304"/>
          </a:xfrm>
          <a:prstGeom prst="ellipse">
            <a:avLst/>
          </a:prstGeom>
          <a:solidFill>
            <a:srgbClr val="6FC9D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89920" y="4023360"/>
            <a:ext cx="146304" cy="146304"/>
          </a:xfrm>
          <a:prstGeom prst="ellipse">
            <a:avLst/>
          </a:prstGeom>
          <a:solidFill>
            <a:srgbClr val="6FC9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64240" y="4023360"/>
            <a:ext cx="146304" cy="146304"/>
          </a:xfrm>
          <a:prstGeom prst="ellipse">
            <a:avLst/>
          </a:prstGeom>
          <a:solidFill>
            <a:srgbClr val="6FC9DC"/>
          </a:solidFill>
          <a:ln/>
        </p:spPr>
      </p:sp>
      <p:sp>
        <p:nvSpPr>
          <p:cNvPr id="31" name="Shape 29"/>
          <p:cNvSpPr/>
          <p:nvPr/>
        </p:nvSpPr>
        <p:spPr>
          <a:xfrm>
            <a:off x="7406640" y="4526280"/>
            <a:ext cx="4114800" cy="1325880"/>
          </a:xfrm>
          <a:prstGeom prst="rect">
            <a:avLst/>
          </a:prstGeom>
          <a:solidFill>
            <a:srgbClr val="0E3A55"/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4663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깊은 수심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35240" y="5093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Shark  ·  Whale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515600" y="5394960"/>
            <a:ext cx="146304" cy="146304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89920" y="5394960"/>
            <a:ext cx="146304" cy="146304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6" name="Shape 34"/>
          <p:cNvSpPr/>
          <p:nvPr/>
        </p:nvSpPr>
        <p:spPr>
          <a:xfrm>
            <a:off x="11064240" y="5394960"/>
            <a:ext cx="146304" cy="146304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7" name="Text 35"/>
          <p:cNvSpPr/>
          <p:nvPr/>
        </p:nvSpPr>
        <p:spPr>
          <a:xfrm>
            <a:off x="7406640" y="5897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깊어질수록 다른 종이 산다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&amp; 몰입 연출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6675120" cy="932688"/>
          </a:xfrm>
          <a:prstGeom prst="roundRect">
            <a:avLst>
              <a:gd name="adj" fmla="val 9804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020824"/>
            <a:ext cx="457200" cy="457200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90195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배경음 자동 정지/재개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스캔·소나 중에는 BGM을 멈췄다가, 끝나면 멈춘 지점부터 이어 재생 → 행동에 집중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862072"/>
            <a:ext cx="6675120" cy="932688"/>
          </a:xfrm>
          <a:prstGeom prst="roundRect">
            <a:avLst>
              <a:gd name="adj" fmla="val 9804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099816"/>
            <a:ext cx="457200" cy="45720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98094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사운드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364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중 루프음 + 완료 시 1회 효과음으로 명확한 피드백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3941064"/>
            <a:ext cx="6675120" cy="932688"/>
          </a:xfrm>
          <a:prstGeom prst="roundRect">
            <a:avLst>
              <a:gd name="adj" fmla="val 9804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178808"/>
            <a:ext cx="457200" cy="457200"/>
          </a:xfrm>
          <a:prstGeom prst="ellipse">
            <a:avLst/>
          </a:prstGeom>
          <a:solidFill>
            <a:srgbClr val="0E4D6E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405993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소나 사운드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44398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가동음 / 감지음을 분리해 탐지 단계마다 다른 청각 신호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5020056"/>
            <a:ext cx="6675120" cy="932688"/>
          </a:xfrm>
          <a:prstGeom prst="roundRect">
            <a:avLst>
              <a:gd name="adj" fmla="val 9804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257800"/>
            <a:ext cx="457200" cy="457200"/>
          </a:xfrm>
          <a:prstGeom prst="ellipse">
            <a:avLst/>
          </a:prstGeom>
          <a:solidFill>
            <a:srgbClr val="1C9B7A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51389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5229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효과음은 2D·3D를 구분해, 안내음은 또렷하게 / 환경음은 입체적으로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0" y="178308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0B3A5B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55280" y="4297680"/>
            <a:ext cx="292608" cy="1097280"/>
          </a:xfrm>
          <a:prstGeom prst="roundRect">
            <a:avLst>
              <a:gd name="adj" fmla="val 15625"/>
            </a:avLst>
          </a:prstGeom>
          <a:solidFill>
            <a:srgbClr val="12869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75904" y="3291840"/>
            <a:ext cx="292608" cy="2103120"/>
          </a:xfrm>
          <a:prstGeom prst="roundRect">
            <a:avLst>
              <a:gd name="adj" fmla="val 15625"/>
            </a:avLst>
          </a:prstGeom>
          <a:solidFill>
            <a:srgbClr val="6FC9DC"/>
          </a:solidFill>
          <a:ln/>
        </p:spPr>
      </p:sp>
      <p:sp>
        <p:nvSpPr>
          <p:cNvPr id="26" name="Shape 24"/>
          <p:cNvSpPr/>
          <p:nvPr/>
        </p:nvSpPr>
        <p:spPr>
          <a:xfrm>
            <a:off x="8796528" y="3840480"/>
            <a:ext cx="292608" cy="1554480"/>
          </a:xfrm>
          <a:prstGeom prst="roundRect">
            <a:avLst>
              <a:gd name="adj" fmla="val 15625"/>
            </a:avLst>
          </a:prstGeom>
          <a:solidFill>
            <a:srgbClr val="12869A"/>
          </a:solidFill>
          <a:ln/>
        </p:spPr>
      </p:sp>
      <p:sp>
        <p:nvSpPr>
          <p:cNvPr id="27" name="Shape 25"/>
          <p:cNvSpPr/>
          <p:nvPr/>
        </p:nvSpPr>
        <p:spPr>
          <a:xfrm>
            <a:off x="9217152" y="2651760"/>
            <a:ext cx="292608" cy="2743200"/>
          </a:xfrm>
          <a:prstGeom prst="roundRect">
            <a:avLst>
              <a:gd name="adj" fmla="val 15625"/>
            </a:avLst>
          </a:prstGeom>
          <a:solidFill>
            <a:srgbClr val="6FC9DC"/>
          </a:solidFill>
          <a:ln/>
        </p:spPr>
      </p:sp>
      <p:sp>
        <p:nvSpPr>
          <p:cNvPr id="28" name="Shape 26"/>
          <p:cNvSpPr/>
          <p:nvPr/>
        </p:nvSpPr>
        <p:spPr>
          <a:xfrm>
            <a:off x="9637776" y="3566160"/>
            <a:ext cx="292608" cy="1828800"/>
          </a:xfrm>
          <a:prstGeom prst="roundRect">
            <a:avLst>
              <a:gd name="adj" fmla="val 15625"/>
            </a:avLst>
          </a:prstGeom>
          <a:solidFill>
            <a:srgbClr val="12869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0" y="2926080"/>
            <a:ext cx="292608" cy="2468880"/>
          </a:xfrm>
          <a:prstGeom prst="roundRect">
            <a:avLst>
              <a:gd name="adj" fmla="val 15625"/>
            </a:avLst>
          </a:prstGeom>
          <a:solidFill>
            <a:srgbClr val="6FC9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79024" y="4114800"/>
            <a:ext cx="292608" cy="1280160"/>
          </a:xfrm>
          <a:prstGeom prst="roundRect">
            <a:avLst>
              <a:gd name="adj" fmla="val 15625"/>
            </a:avLst>
          </a:prstGeom>
          <a:solidFill>
            <a:srgbClr val="12869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99648" y="3200400"/>
            <a:ext cx="292608" cy="2194560"/>
          </a:xfrm>
          <a:prstGeom prst="roundRect">
            <a:avLst>
              <a:gd name="adj" fmla="val 15625"/>
            </a:avLst>
          </a:prstGeom>
          <a:solidFill>
            <a:srgbClr val="6FC9DC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5577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C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몰입을 만드는 소리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&amp; 구조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2121408" cy="566928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 w="12700">
            <a:solidFill>
              <a:srgbClr val="1286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9164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D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Unreal Engine 5.7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07792" y="1691640"/>
            <a:ext cx="2121408" cy="566928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 w="12700">
            <a:solidFill>
              <a:srgbClr val="128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169164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D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OpenXR (VR)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57216" y="1691640"/>
            <a:ext cx="2121408" cy="566928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 w="12700">
            <a:solidFill>
              <a:srgbClr val="1286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169164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D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 + Blueprint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1691640"/>
            <a:ext cx="2121408" cy="566928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 w="12700">
            <a:solidFill>
              <a:srgbClr val="128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69164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D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DataTable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56064" y="1691640"/>
            <a:ext cx="2121408" cy="566928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 w="12700">
            <a:solidFill>
              <a:srgbClr val="1286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56064" y="169164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D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GameInstance Subsystem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260604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2606040"/>
            <a:ext cx="3566160" cy="4572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" y="3172968"/>
            <a:ext cx="31546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XRPawn (VR 폰)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· 대시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손전등 스캔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소나 · 수심 표시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70832" y="260604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0832" y="2606040"/>
            <a:ext cx="3657600" cy="45720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23" name="Text 21"/>
          <p:cNvSpPr/>
          <p:nvPr/>
        </p:nvSpPr>
        <p:spPr>
          <a:xfrm>
            <a:off x="4507992" y="2606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Encyclopedia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99432" y="3172968"/>
            <a:ext cx="3246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EncyclopediaLibrary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EncyclopediaSubsystem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FishSpawner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FishSwimComponent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74736" y="2606040"/>
            <a:ext cx="3346704" cy="3383280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74736" y="2606040"/>
            <a:ext cx="3346704" cy="457200"/>
          </a:xfrm>
          <a:prstGeom prst="rect">
            <a:avLst/>
          </a:prstGeom>
          <a:solidFill>
            <a:srgbClr val="0E4D6E"/>
          </a:solidFill>
          <a:ln/>
        </p:spPr>
      </p:sp>
      <p:sp>
        <p:nvSpPr>
          <p:cNvPr id="27" name="Text 25"/>
          <p:cNvSpPr/>
          <p:nvPr/>
        </p:nvSpPr>
        <p:spPr>
          <a:xfrm>
            <a:off x="8311896" y="260604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03336" y="3172968"/>
            <a:ext cx="293522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 (BGM)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/ GameMode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프레임워크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224528" y="4297680"/>
            <a:ext cx="146304" cy="0"/>
          </a:xfrm>
          <a:prstGeom prst="line">
            <a:avLst/>
          </a:prstGeom>
          <a:noFill/>
          <a:ln w="19050">
            <a:solidFill>
              <a:srgbClr val="5E7B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28432" y="4297680"/>
            <a:ext cx="146304" cy="0"/>
          </a:xfrm>
          <a:prstGeom prst="line">
            <a:avLst/>
          </a:prstGeom>
          <a:noFill/>
          <a:ln w="19050">
            <a:solidFill>
              <a:srgbClr val="5E7B8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알고리즘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938528"/>
            <a:ext cx="502920" cy="502920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퍼지 이름 매칭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23042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레벤슈타인 편집거리 · 오타/대소문자/접두어 보정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7889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완전 일치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정규화 일치 (소문자·영숫자)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접두 / 부분 일치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7A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편집거리 ≤ 1  (오타 1글자, 유일할 때)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4370832"/>
            <a:ext cx="4846320" cy="548640"/>
          </a:xfrm>
          <a:prstGeom prst="roundRect">
            <a:avLst>
              <a:gd name="adj" fmla="val 16667"/>
            </a:avLst>
          </a:prstGeom>
          <a:solidFill>
            <a:srgbClr val="0622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3708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"madarine"  →  </a:t>
            </a:r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mandarine</a:t>
            </a:r>
            <a:pPr indent="0" marL="0">
              <a:buNone/>
            </a:pPr>
            <a:r>
              <a:rPr lang="en-US" sz="140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44768" y="169164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6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938528"/>
            <a:ext cx="502920" cy="50292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각반경 콘 판정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040880" y="23042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기하 기반 스캔 타겟팅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3246120"/>
            <a:ext cx="2103120" cy="-548640"/>
          </a:xfrm>
          <a:prstGeom prst="line">
            <a:avLst/>
          </a:prstGeom>
          <a:noFill/>
          <a:ln w="19050">
            <a:solidFill>
              <a:srgbClr val="FFC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3246120"/>
            <a:ext cx="2103120" cy="548640"/>
          </a:xfrm>
          <a:prstGeom prst="line">
            <a:avLst/>
          </a:prstGeom>
          <a:noFill/>
          <a:ln w="19050">
            <a:solidFill>
              <a:srgbClr val="FFC8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3127248"/>
            <a:ext cx="237744" cy="23774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3" name="Shape 21"/>
          <p:cNvSpPr/>
          <p:nvPr/>
        </p:nvSpPr>
        <p:spPr>
          <a:xfrm>
            <a:off x="8823960" y="3072384"/>
            <a:ext cx="347472" cy="347472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410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손전등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3410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물고기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4114800"/>
            <a:ext cx="4800600" cy="804672"/>
          </a:xfrm>
          <a:prstGeom prst="roundRect">
            <a:avLst>
              <a:gd name="adj" fmla="val 11364"/>
            </a:avLst>
          </a:prstGeom>
          <a:solidFill>
            <a:srgbClr val="06223B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11480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C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acos( Forward · toFish 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허용각 += asin( r / dist 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" y="5285232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3F7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486400"/>
            <a:ext cx="457200" cy="457200"/>
          </a:xfrm>
          <a:prstGeom prst="ellipse">
            <a:avLst/>
          </a:prstGeom>
          <a:solidFill>
            <a:srgbClr val="0E4D6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54480" y="537667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물고기 AI — 예측형 회피 + 스티어링: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앞을 미리 스윕해 충돌 전 법선 방향으로 회피 · 목표 수심 비례제어 · 등속 보간 회전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86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8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— 해양 생물 &amp; 환경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12종의 해양 생물과 광활한 수중 환경을 제작했습니다.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14884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22576"/>
            <a:ext cx="365760" cy="365760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16736" y="21488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Blobfish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474720" y="214884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9312" y="2322576"/>
            <a:ext cx="365760" cy="365760"/>
          </a:xfrm>
          <a:prstGeom prst="ellipse">
            <a:avLst/>
          </a:prstGeom>
          <a:solidFill>
            <a:srgbClr val="0E4D6E"/>
          </a:solidFill>
          <a:ln/>
        </p:spPr>
      </p:sp>
      <p:sp>
        <p:nvSpPr>
          <p:cNvPr id="14" name="Text 12"/>
          <p:cNvSpPr/>
          <p:nvPr/>
        </p:nvSpPr>
        <p:spPr>
          <a:xfrm>
            <a:off x="3639312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33088" y="21488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Bluetang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91072" y="214884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2322576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21488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Clione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107424" y="214884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16" y="2322576"/>
            <a:ext cx="365760" cy="365760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22" name="Text 20"/>
          <p:cNvSpPr/>
          <p:nvPr/>
        </p:nvSpPr>
        <p:spPr>
          <a:xfrm>
            <a:off x="9272016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65792" y="21488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Crownfish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58368" y="2980944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154680"/>
            <a:ext cx="365760" cy="365760"/>
          </a:xfrm>
          <a:prstGeom prst="ellipse">
            <a:avLst/>
          </a:prstGeom>
          <a:solidFill>
            <a:srgbClr val="0E4D6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16736" y="298094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Lionfish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3474720" y="2980944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39312" y="315468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0" name="Text 28"/>
          <p:cNvSpPr/>
          <p:nvPr/>
        </p:nvSpPr>
        <p:spPr>
          <a:xfrm>
            <a:off x="3639312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33088" y="298094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Lure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291072" y="2980944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55664" y="3154680"/>
            <a:ext cx="365760" cy="365760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34" name="Text 32"/>
          <p:cNvSpPr/>
          <p:nvPr/>
        </p:nvSpPr>
        <p:spPr>
          <a:xfrm>
            <a:off x="6455664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298094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Mandarine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9107424" y="2980944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72016" y="3154680"/>
            <a:ext cx="365760" cy="365760"/>
          </a:xfrm>
          <a:prstGeom prst="ellipse">
            <a:avLst/>
          </a:prstGeom>
          <a:solidFill>
            <a:srgbClr val="0E4D6E"/>
          </a:solidFill>
          <a:ln/>
        </p:spPr>
      </p:sp>
      <p:sp>
        <p:nvSpPr>
          <p:cNvPr id="38" name="Text 36"/>
          <p:cNvSpPr/>
          <p:nvPr/>
        </p:nvSpPr>
        <p:spPr>
          <a:xfrm>
            <a:off x="9272016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765792" y="298094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Seahorse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58368" y="3813048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3986784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16736" y="38130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Shark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3474720" y="3813048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39312" y="3986784"/>
            <a:ext cx="365760" cy="365760"/>
          </a:xfrm>
          <a:prstGeom prst="ellipse">
            <a:avLst/>
          </a:prstGeom>
          <a:solidFill>
            <a:srgbClr val="12869A"/>
          </a:solidFill>
          <a:ln/>
        </p:spPr>
      </p:sp>
      <p:sp>
        <p:nvSpPr>
          <p:cNvPr id="46" name="Text 44"/>
          <p:cNvSpPr/>
          <p:nvPr/>
        </p:nvSpPr>
        <p:spPr>
          <a:xfrm>
            <a:off x="363931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133088" y="38130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Turtle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6291072" y="3813048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55664" y="3986784"/>
            <a:ext cx="365760" cy="365760"/>
          </a:xfrm>
          <a:prstGeom prst="ellipse">
            <a:avLst/>
          </a:prstGeom>
          <a:solidFill>
            <a:srgbClr val="0E4D6E"/>
          </a:solidFill>
          <a:ln/>
        </p:spPr>
      </p:sp>
      <p:sp>
        <p:nvSpPr>
          <p:cNvPr id="50" name="Text 48"/>
          <p:cNvSpPr/>
          <p:nvPr/>
        </p:nvSpPr>
        <p:spPr>
          <a:xfrm>
            <a:off x="6455664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49440" y="38130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Whale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9107424" y="3813048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F4F9FB"/>
          </a:solidFill>
          <a:ln w="12700">
            <a:solidFill>
              <a:srgbClr val="D6E5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72016" y="3986784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54" name="Text 52"/>
          <p:cNvSpPr/>
          <p:nvPr/>
        </p:nvSpPr>
        <p:spPr>
          <a:xfrm>
            <a:off x="9272016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765792" y="38130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Octopus</a:t>
            </a:r>
            <a:endParaRPr lang="en-US" sz="1450" dirty="0"/>
          </a:p>
        </p:txBody>
      </p:sp>
      <p:sp>
        <p:nvSpPr>
          <p:cNvPr id="56" name="Shape 54"/>
          <p:cNvSpPr/>
          <p:nvPr/>
        </p:nvSpPr>
        <p:spPr>
          <a:xfrm>
            <a:off x="658368" y="52120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B3A5B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60120" y="5349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수중 환경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96012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산호초 군락  ·  해초 숲  ·  침몰한 고대 유적  ·  거대 고래뼈  ·  심해 기지(DeepWaterStation)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0B3A5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926080"/>
            <a:ext cx="8229600" cy="5486400"/>
          </a:xfrm>
          <a:prstGeom prst="ellipse">
            <a:avLst/>
          </a:prstGeom>
          <a:solidFill>
            <a:srgbClr val="0E4D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840480"/>
            <a:ext cx="7315200" cy="6400800"/>
          </a:xfrm>
          <a:prstGeom prst="ellipse">
            <a:avLst/>
          </a:prstGeom>
          <a:solidFill>
            <a:srgbClr val="12869A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17236" y="1965960"/>
            <a:ext cx="1554480" cy="1554480"/>
          </a:xfrm>
          <a:prstGeom prst="ellipse">
            <a:avLst/>
          </a:prstGeom>
          <a:solidFill>
            <a:srgbClr val="FF7A59"/>
          </a:solidFill>
          <a:ln/>
          <a:effectLst>
            <a:outerShdw sx="100000" sy="100000" kx="0" ky="0" algn="bl" rotWithShape="0" blurRad="114300" dist="38100" dir="5400000">
              <a:srgbClr val="0B2A3D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54396" y="19659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374904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2분  ·  탐험 → 발견 → 스캔 → 도감 등록의 실제 플레이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22876" y="5303520"/>
            <a:ext cx="2743200" cy="502920"/>
          </a:xfrm>
          <a:prstGeom prst="rect">
            <a:avLst/>
          </a:prstGeom>
          <a:solidFill>
            <a:srgbClr val="FFC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2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영상 재생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0B3A5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926080"/>
            <a:ext cx="8229600" cy="5486400"/>
          </a:xfrm>
          <a:prstGeom prst="ellipse">
            <a:avLst/>
          </a:prstGeom>
          <a:solidFill>
            <a:srgbClr val="0E4D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840480"/>
            <a:ext cx="7315200" cy="6400800"/>
          </a:xfrm>
          <a:prstGeom prst="ellipse">
            <a:avLst/>
          </a:prstGeom>
          <a:solidFill>
            <a:srgbClr val="12869A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C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바닷속의 발견을 도감에 담다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수중 탐험 + 손전등 스캔 / 소나 도감 수집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도감 · 영구 저장으로 확장성 확보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반응하는 물고기 AI로 살아있는 생태계 구현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35661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해양 생물 종 추가 및 희귀종 도입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/ 퀘스트, 사진 모드 등 콘텐츠 확장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CF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· 비주얼 폴리싱으로 몰입감 강화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SeaProject  ·  Unreal Engine 5.7  ·  OpenXR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SeaProject 발표자료</dc:title>
  <dc:subject>PptxGenJS Presentation</dc:subject>
  <dc:creator>SeaProject Team</dc:creator>
  <cp:lastModifiedBy>SeaProject Team</cp:lastModifiedBy>
  <cp:revision>1</cp:revision>
  <dcterms:created xsi:type="dcterms:W3CDTF">2026-06-09T14:28:09Z</dcterms:created>
  <dcterms:modified xsi:type="dcterms:W3CDTF">2026-06-09T14:28:09Z</dcterms:modified>
</cp:coreProperties>
</file>