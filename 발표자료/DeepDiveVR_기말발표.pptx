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 DEEP SEA EXPLORATION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8096" y="18288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F7F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DIVE VR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 심해 탐사 시뮬레이션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4023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탐사하고 · 소나로 발견하고 · 스캔해 홀로그램 도감을 채우다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3200400" cy="530352"/>
          </a:xfrm>
          <a:prstGeom prst="roundRect">
            <a:avLst>
              <a:gd name="adj" fmla="val 50000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XR UI/UX 프로그래밍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4892040"/>
            <a:ext cx="3200400" cy="530352"/>
          </a:xfrm>
          <a:prstGeom prst="roundRect">
            <a:avLst>
              <a:gd name="adj" fmla="val 50000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48920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발표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0" y="4892040"/>
            <a:ext cx="3200400" cy="530352"/>
          </a:xfrm>
          <a:prstGeom prst="roundRect">
            <a:avLst>
              <a:gd name="adj" fmla="val 50000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48920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박찬홍 (팀장·기획·프로그래밍)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8분  +  시연 영상 2분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69164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082039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69164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플레이어는 VR로 심해를 탐사하며,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소나로 생물을 발견하고 손전등으로 스캔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홀로그램 도감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완성하는 심해 탐사 시뮬레이션입니다.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3200400"/>
            <a:ext cx="3493008" cy="3017520"/>
          </a:xfrm>
          <a:prstGeom prst="roundRect">
            <a:avLst>
              <a:gd name="adj" fmla="val 2727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3200400"/>
            <a:ext cx="91440" cy="3017520"/>
          </a:xfrm>
          <a:prstGeom prst="rect">
            <a:avLst/>
          </a:prstGeom>
          <a:solidFill>
            <a:srgbClr val="00D3FF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32688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심해의 공포와 경이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2688" y="4617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빛이 닿지 않는 극한 환경을 VR로 직접 탐사하는 몰입 경험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70832" y="3200400"/>
            <a:ext cx="3493008" cy="3017520"/>
          </a:xfrm>
          <a:prstGeom prst="roundRect">
            <a:avLst>
              <a:gd name="adj" fmla="val 2727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0832" y="3200400"/>
            <a:ext cx="91440" cy="3017520"/>
          </a:xfrm>
          <a:prstGeom prst="rect">
            <a:avLst/>
          </a:prstGeom>
          <a:solidFill>
            <a:srgbClr val="00E2BE"/>
          </a:solidFill>
          <a:ln/>
        </p:spPr>
      </p:sp>
      <p:sp>
        <p:nvSpPr>
          <p:cNvPr id="18" name="Text 16"/>
          <p:cNvSpPr/>
          <p:nvPr/>
        </p:nvSpPr>
        <p:spPr>
          <a:xfrm>
            <a:off x="4645152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E2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45152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발견과 수집의 재미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45152" y="4617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소나 탐지 → 스캔 → 도감 등록으로 이어지는 탐사 보상 루프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83296" y="3200400"/>
            <a:ext cx="3493008" cy="3017520"/>
          </a:xfrm>
          <a:prstGeom prst="roundRect">
            <a:avLst>
              <a:gd name="adj" fmla="val 2727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83296" y="3200400"/>
            <a:ext cx="91440" cy="3017520"/>
          </a:xfrm>
          <a:prstGeom prst="rect">
            <a:avLst/>
          </a:prstGeom>
          <a:solidFill>
            <a:srgbClr val="FFCC4D"/>
          </a:solidFill>
          <a:ln/>
        </p:spPr>
      </p:sp>
      <p:sp>
        <p:nvSpPr>
          <p:cNvPr id="23" name="Text 21"/>
          <p:cNvSpPr/>
          <p:nvPr/>
        </p:nvSpPr>
        <p:spPr>
          <a:xfrm>
            <a:off x="8357616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CC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357616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다이제틱 몰입 UI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57616" y="4617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손목 수심계·홀로그램 도감 등 UI가 게임 세계 안에 존재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플레이 루프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GAMEPLAY LOOP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탐사 → 발견 → 스캔 → 도감. 이 사이클의 반복이 게임의 핵심 재미입니다.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233172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2651760"/>
            <a:ext cx="1005840" cy="1005840"/>
          </a:xfrm>
          <a:prstGeom prst="ellipse">
            <a:avLst/>
          </a:prstGeom>
          <a:solidFill>
            <a:srgbClr val="0B2A47"/>
          </a:solidFill>
          <a:ln w="19050">
            <a:solidFill>
              <a:srgbClr val="00D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🌊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4048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심해 이동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" y="4544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수중 추진기로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심해 탐색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07792" y="2971800"/>
            <a:ext cx="466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337560" y="233172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2651760"/>
            <a:ext cx="1005840" cy="1005840"/>
          </a:xfrm>
          <a:prstGeom prst="ellipse">
            <a:avLst/>
          </a:prstGeom>
          <a:solidFill>
            <a:srgbClr val="0B2A47"/>
          </a:solidFill>
          <a:ln w="19050">
            <a:solidFill>
              <a:srgbClr val="00E2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📡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33756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2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소나 탐지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20440" y="4544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주변 생물의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위치를 포착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61304" y="2971800"/>
            <a:ext cx="466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291072" y="233172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68312" y="2651760"/>
            <a:ext cx="1005840" cy="1005840"/>
          </a:xfrm>
          <a:prstGeom prst="ellipse">
            <a:avLst/>
          </a:prstGeom>
          <a:solidFill>
            <a:srgbClr val="0B2A47"/>
          </a:solidFill>
          <a:ln w="19050">
            <a:solidFill>
              <a:srgbClr val="FFCC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🔦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291072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C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91072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손전등 스캔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73952" y="4544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겨눠서 진행도를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채워 포획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814816" y="2971800"/>
            <a:ext cx="466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9244584" y="233172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21824" y="2651760"/>
            <a:ext cx="1005840" cy="1005840"/>
          </a:xfrm>
          <a:prstGeom prst="ellipse">
            <a:avLst/>
          </a:prstGeom>
          <a:solidFill>
            <a:srgbClr val="0B2A47"/>
          </a:solidFill>
          <a:ln w="19050">
            <a:solidFill>
              <a:srgbClr val="53D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21824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📖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244584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3D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44584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도감 등록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427464" y="4544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수집을 영구 저장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(다시 와도 유지)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224528" y="553212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24528" y="5532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↻  반복하며 도감 완성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긴장감 있는 스캔 시스템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SCAN MECHANIC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47088"/>
            <a:ext cx="310896" cy="310896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조준 &amp; 유지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21945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손전등 콘을 겨누고 트리거를 누르고 있으면 진행도가 차오름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10896" cy="310896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28620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락온(Lock-on)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327355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한번 포착하면 생물이 도망쳐 시야를 벗어나도 스캔 지속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05072"/>
            <a:ext cx="310896" cy="310896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94106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생물별 스캔 시간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4440" y="435254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데이터테이블 값으로 종마다 난이도(소요 시간)가 다름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084064"/>
            <a:ext cx="310896" cy="310896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50200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피드백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34440" y="543153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진행도 UI·루프 사운드, 100%에서 도감 등록 + 완료음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60920" y="1783080"/>
            <a:ext cx="4160520" cy="4206240"/>
          </a:xfrm>
          <a:prstGeom prst="roundRect">
            <a:avLst>
              <a:gd name="adj" fmla="val 1978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60920" y="2011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2606040"/>
            <a:ext cx="420624" cy="420624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손전등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75320" y="2816352"/>
            <a:ext cx="2011680" cy="868680"/>
          </a:xfrm>
          <a:prstGeom prst="line">
            <a:avLst/>
          </a:prstGeom>
          <a:noFill/>
          <a:ln w="19050">
            <a:solidFill>
              <a:srgbClr val="FFCC4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241280" y="3429000"/>
            <a:ext cx="457200" cy="45720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10012680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4754880"/>
            <a:ext cx="3520440" cy="365760"/>
          </a:xfrm>
          <a:prstGeom prst="roundRect">
            <a:avLst>
              <a:gd name="adj" fmla="val 50000"/>
            </a:avLst>
          </a:prstGeom>
          <a:solidFill>
            <a:srgbClr val="06223B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47548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0D3FF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5257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 진행 중...  68%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소나(Sonar) 탐지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SONAR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92024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231136"/>
            <a:ext cx="548640" cy="548640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31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1122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버튼으로 가동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25328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왼손으로 소나를 펼쳐 주변 해역을 한 번에 탐지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324612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557016"/>
            <a:ext cx="548640" cy="548640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4381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생물 위치 안내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38587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감지된 생물의 방향을 표시해 탐사를 도움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457200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882896"/>
            <a:ext cx="548640" cy="548640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82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7640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전용 사운드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45920" y="51846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가동음·감지음을 분리해 탐지 단계마다 다른 청각 신호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192024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1645920"/>
            <a:ext cx="4663440" cy="4663440"/>
          </a:xfrm>
          <a:prstGeom prst="ellipse">
            <a:avLst/>
          </a:prstGeom>
          <a:ln w="25400">
            <a:solidFill>
              <a:srgbClr val="00D3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286000"/>
            <a:ext cx="3383280" cy="3383280"/>
          </a:xfrm>
          <a:prstGeom prst="ellipse">
            <a:avLst/>
          </a:prstGeom>
          <a:ln w="25400">
            <a:solidFill>
              <a:srgbClr val="00D3FF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926080"/>
            <a:ext cx="2103120" cy="2103120"/>
          </a:xfrm>
          <a:prstGeom prst="ellipse">
            <a:avLst/>
          </a:prstGeom>
          <a:ln w="25400">
            <a:solidFill>
              <a:srgbClr val="00D3FF">
                <a:alpha val="5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3960" y="3794760"/>
            <a:ext cx="365760" cy="365760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68712" y="2999232"/>
            <a:ext cx="219456" cy="21945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0" name="Shape 28"/>
          <p:cNvSpPr/>
          <p:nvPr/>
        </p:nvSpPr>
        <p:spPr>
          <a:xfrm>
            <a:off x="7251192" y="4462272"/>
            <a:ext cx="219456" cy="21945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1" name="Shape 29"/>
          <p:cNvSpPr/>
          <p:nvPr/>
        </p:nvSpPr>
        <p:spPr>
          <a:xfrm>
            <a:off x="9582912" y="5330952"/>
            <a:ext cx="219456" cy="21945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486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SONAR PING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홀로그램 도감 &amp; 다이제틱 UI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HOLOGRAPHIC CODEX · DIEGETIC UI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37944"/>
            <a:ext cx="310896" cy="310896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7830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도감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21945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이름·수심·스캔시간·모델을 데이터테이블 한 줄로 관리 → 확장 용이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935224"/>
            <a:ext cx="310896" cy="310896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2880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영구 수집 저장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329184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Subsystem에 기록 → 닫았다 열어도 수집 상태 유지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32504"/>
            <a:ext cx="310896" cy="310896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9776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다이제틱 UI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4440" y="43891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손목 수심계·홀로그램 도감 — UI를 화면이 아닌 '세계 안'에 배치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129784"/>
            <a:ext cx="310896" cy="310896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50749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한글 표시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34440" y="54864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수집한 종 정보를 홀로그램에 한글 폰트로 출력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1783080"/>
            <a:ext cx="4114800" cy="4206240"/>
          </a:xfrm>
          <a:prstGeom prst="roundRect">
            <a:avLst>
              <a:gd name="adj" fmla="val 2000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35240" y="201168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06223B"/>
          </a:solidFill>
          <a:ln w="12700">
            <a:solidFill>
              <a:srgbClr val="00D3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8280" y="2286000"/>
            <a:ext cx="822960" cy="822960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1812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Mandarine Fish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18120" y="43434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18320" y="4343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18120" y="47548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스캔시간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0" y="47548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18120" y="51663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18320" y="51663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✓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살아있는 심해 — 생물 AI &amp; 수심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LIVING DEEP SEA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37944"/>
            <a:ext cx="310896" cy="310896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자연스러운 유영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21945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전진 + 랜덤 방향 전환으로 살아있는 움직임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935224"/>
            <a:ext cx="310896" cy="310896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2880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예측형 벽 회피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32918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앞을 미리 감지해 지형에 박히지 않고 부드럽게 회피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32504"/>
            <a:ext cx="310896" cy="310896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수심대 &amp; 도망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4440" y="43891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종마다 사는 깊이대 유지, 스캔당하면 빠르게 도망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129784"/>
            <a:ext cx="310896" cy="31089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수심 기반 자동 스폰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34440" y="54864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수심값대로 깊은 종은 더 깊은 곳에 배치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1783080"/>
            <a:ext cx="4114800" cy="1325880"/>
          </a:xfrm>
          <a:prstGeom prst="rect">
            <a:avLst/>
          </a:prstGeom>
          <a:solidFill>
            <a:srgbClr val="0E5C86"/>
          </a:solidFill>
          <a:ln w="6350">
            <a:solidFill>
              <a:srgbClr val="1E5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1929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얕은 수심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35240" y="23682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Bluetang  ·  Clione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607040" y="2651760"/>
            <a:ext cx="146304" cy="14630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81360" y="2651760"/>
            <a:ext cx="146304" cy="14630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55680" y="2651760"/>
            <a:ext cx="146304" cy="14630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0" y="3154680"/>
            <a:ext cx="4114800" cy="1325880"/>
          </a:xfrm>
          <a:prstGeom prst="rect">
            <a:avLst/>
          </a:prstGeom>
          <a:solidFill>
            <a:srgbClr val="0B3F63"/>
          </a:solidFill>
          <a:ln w="6350">
            <a:solidFill>
              <a:srgbClr val="1E5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33009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수심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35240" y="3739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Mandarine  ·  Lionfish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607040" y="4023360"/>
            <a:ext cx="146304" cy="14630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81360" y="4023360"/>
            <a:ext cx="146304" cy="14630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155680" y="4023360"/>
            <a:ext cx="146304" cy="14630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406640" y="4526280"/>
            <a:ext cx="4114800" cy="1325880"/>
          </a:xfrm>
          <a:prstGeom prst="rect">
            <a:avLst/>
          </a:prstGeom>
          <a:solidFill>
            <a:srgbClr val="061F38"/>
          </a:solidFill>
          <a:ln w="6350">
            <a:solidFill>
              <a:srgbClr val="1E5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46725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깊은 수심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35240" y="5111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Shark  ·  Whale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607040" y="5394960"/>
            <a:ext cx="146304" cy="146304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81360" y="5394960"/>
            <a:ext cx="146304" cy="146304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8" name="Shape 36"/>
          <p:cNvSpPr/>
          <p:nvPr/>
        </p:nvSpPr>
        <p:spPr>
          <a:xfrm>
            <a:off x="11155680" y="5394960"/>
            <a:ext cx="146304" cy="146304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9" name="Text 37"/>
          <p:cNvSpPr/>
          <p:nvPr/>
        </p:nvSpPr>
        <p:spPr>
          <a:xfrm>
            <a:off x="7406640" y="5897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 깊어질수록 다른 종이 산다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사운드 &amp; 몰입 연출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 &amp; IMMERSION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6675120" cy="932688"/>
          </a:xfrm>
          <a:prstGeom prst="roundRect">
            <a:avLst>
              <a:gd name="adj" fmla="val 882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020824"/>
            <a:ext cx="457200" cy="457200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90195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배경음 자동 정지/재개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2860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스캔·소나 중 BGM을 멈췄다가 끝나면 멈춘 지점부터 이어 재생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2862072"/>
            <a:ext cx="6675120" cy="932688"/>
          </a:xfrm>
          <a:prstGeom prst="roundRect">
            <a:avLst>
              <a:gd name="adj" fmla="val 882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099816"/>
            <a:ext cx="457200" cy="457200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298094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 사운드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364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 루프음 + 완료음으로 명확한 피드백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3941064"/>
            <a:ext cx="6675120" cy="932688"/>
          </a:xfrm>
          <a:prstGeom prst="roundRect">
            <a:avLst>
              <a:gd name="adj" fmla="val 882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178808"/>
            <a:ext cx="457200" cy="457200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05993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소나 사운드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44398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가동음 / 감지음 분리로 탐지 단계별 청각 신호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5020056"/>
            <a:ext cx="6675120" cy="932688"/>
          </a:xfrm>
          <a:prstGeom prst="roundRect">
            <a:avLst>
              <a:gd name="adj" fmla="val 882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257800"/>
            <a:ext cx="457200" cy="45720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51389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5229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안내음은 또렷한 2D, 환경음은 입체적인 3D로 구분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0" y="1783080"/>
            <a:ext cx="3931920" cy="4297680"/>
          </a:xfrm>
          <a:prstGeom prst="roundRect">
            <a:avLst>
              <a:gd name="adj" fmla="val 2093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73568" y="4297680"/>
            <a:ext cx="292608" cy="1097280"/>
          </a:xfrm>
          <a:prstGeom prst="roundRect">
            <a:avLst>
              <a:gd name="adj" fmla="val 15625"/>
            </a:avLst>
          </a:prstGeom>
          <a:solidFill>
            <a:srgbClr val="00E2BE"/>
          </a:solidFill>
          <a:ln/>
        </p:spPr>
      </p:sp>
      <p:sp>
        <p:nvSpPr>
          <p:cNvPr id="31" name="Shape 29"/>
          <p:cNvSpPr/>
          <p:nvPr/>
        </p:nvSpPr>
        <p:spPr>
          <a:xfrm>
            <a:off x="8394192" y="3291840"/>
            <a:ext cx="292608" cy="2103120"/>
          </a:xfrm>
          <a:prstGeom prst="roundRect">
            <a:avLst>
              <a:gd name="adj" fmla="val 15625"/>
            </a:avLst>
          </a:prstGeom>
          <a:solidFill>
            <a:srgbClr val="00D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814816" y="3931920"/>
            <a:ext cx="292608" cy="1463040"/>
          </a:xfrm>
          <a:prstGeom prst="roundRect">
            <a:avLst>
              <a:gd name="adj" fmla="val 15625"/>
            </a:avLst>
          </a:prstGeom>
          <a:solidFill>
            <a:srgbClr val="00E2BE"/>
          </a:solidFill>
          <a:ln/>
        </p:spPr>
      </p:sp>
      <p:sp>
        <p:nvSpPr>
          <p:cNvPr id="33" name="Shape 31"/>
          <p:cNvSpPr/>
          <p:nvPr/>
        </p:nvSpPr>
        <p:spPr>
          <a:xfrm>
            <a:off x="9235440" y="2651760"/>
            <a:ext cx="292608" cy="2743200"/>
          </a:xfrm>
          <a:prstGeom prst="roundRect">
            <a:avLst>
              <a:gd name="adj" fmla="val 15625"/>
            </a:avLst>
          </a:prstGeom>
          <a:solidFill>
            <a:srgbClr val="00D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656064" y="3566160"/>
            <a:ext cx="292608" cy="1828800"/>
          </a:xfrm>
          <a:prstGeom prst="roundRect">
            <a:avLst>
              <a:gd name="adj" fmla="val 15625"/>
            </a:avLst>
          </a:prstGeom>
          <a:solidFill>
            <a:srgbClr val="00E2BE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76688" y="2926080"/>
            <a:ext cx="292608" cy="2468880"/>
          </a:xfrm>
          <a:prstGeom prst="roundRect">
            <a:avLst>
              <a:gd name="adj" fmla="val 15625"/>
            </a:avLst>
          </a:prstGeom>
          <a:solidFill>
            <a:srgbClr val="00D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97312" y="4114800"/>
            <a:ext cx="292608" cy="1280160"/>
          </a:xfrm>
          <a:prstGeom prst="roundRect">
            <a:avLst>
              <a:gd name="adj" fmla="val 15625"/>
            </a:avLst>
          </a:prstGeom>
          <a:solidFill>
            <a:srgbClr val="00E2BE"/>
          </a:solidFill>
          <a:ln/>
        </p:spPr>
      </p:sp>
      <p:sp>
        <p:nvSpPr>
          <p:cNvPr id="37" name="Shape 35"/>
          <p:cNvSpPr/>
          <p:nvPr/>
        </p:nvSpPr>
        <p:spPr>
          <a:xfrm>
            <a:off x="10917936" y="3200400"/>
            <a:ext cx="292608" cy="2194560"/>
          </a:xfrm>
          <a:prstGeom prst="roundRect">
            <a:avLst>
              <a:gd name="adj" fmla="val 15625"/>
            </a:avLst>
          </a:prstGeom>
          <a:solidFill>
            <a:srgbClr val="00D3FF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5532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몰입을 만드는 소리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알고리즘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ALGORITHMS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691640"/>
            <a:ext cx="5394960" cy="3337560"/>
          </a:xfrm>
          <a:prstGeom prst="roundRect">
            <a:avLst>
              <a:gd name="adj" fmla="val 246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938528"/>
            <a:ext cx="502920" cy="502920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퍼지 이름 매칭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2860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레벤슈타인 편집거리 · 오타/대소문자 보정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74320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완전 일치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정규화 일치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접두/부분 일치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편집거리 ≤ 1 (오타 1글자)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4315968"/>
            <a:ext cx="4846320" cy="530352"/>
          </a:xfrm>
          <a:prstGeom prst="roundRect">
            <a:avLst>
              <a:gd name="adj" fmla="val 17241"/>
            </a:avLst>
          </a:prstGeom>
          <a:solidFill>
            <a:srgbClr val="01101E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3159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"madarine" → </a:t>
            </a:r>
            <a:pPr indent="0" marL="0">
              <a:buNone/>
            </a:pPr>
            <a:r>
              <a:rPr lang="en-US" sz="1350" b="1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mandarine</a:t>
            </a:r>
            <a:pPr indent="0" marL="0">
              <a:buNone/>
            </a:pPr>
            <a:r>
              <a:rPr lang="en-US" sz="1350" b="1" dirty="0">
                <a:solidFill>
                  <a:srgbClr val="00E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44768" y="1691640"/>
            <a:ext cx="5394960" cy="3337560"/>
          </a:xfrm>
          <a:prstGeom prst="roundRect">
            <a:avLst>
              <a:gd name="adj" fmla="val 246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938528"/>
            <a:ext cx="502920" cy="502920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각반경 콘 판정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22860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기하 기반 스캔 타겟팅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3200400"/>
            <a:ext cx="2103120" cy="-502920"/>
          </a:xfrm>
          <a:prstGeom prst="line">
            <a:avLst/>
          </a:prstGeom>
          <a:noFill/>
          <a:ln w="19050">
            <a:solidFill>
              <a:srgbClr val="FFCC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200400"/>
            <a:ext cx="2103120" cy="502920"/>
          </a:xfrm>
          <a:prstGeom prst="line">
            <a:avLst/>
          </a:prstGeom>
          <a:noFill/>
          <a:ln w="19050">
            <a:solidFill>
              <a:srgbClr val="FFCC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11112" y="3090672"/>
            <a:ext cx="219456" cy="219456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25" name="Shape 23"/>
          <p:cNvSpPr/>
          <p:nvPr/>
        </p:nvSpPr>
        <p:spPr>
          <a:xfrm>
            <a:off x="8823960" y="3035808"/>
            <a:ext cx="329184" cy="329184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손전등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4964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4069080"/>
            <a:ext cx="4800600" cy="777240"/>
          </a:xfrm>
          <a:prstGeom prst="roundRect">
            <a:avLst>
              <a:gd name="adj" fmla="val 11765"/>
            </a:avLst>
          </a:prstGeom>
          <a:solidFill>
            <a:srgbClr val="01101E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069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acos( Forward · toFish 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허용각 += asin( r / dist 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" y="521208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5413248"/>
            <a:ext cx="438912" cy="438912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413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54480" y="532180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생물 AI — 예측형 회피 + 스티어링:  </a:t>
            </a:r>
            <a:pPr indent="0" marL="0">
              <a:buNone/>
            </a:pPr>
            <a:r>
              <a:rPr lang="en-US" sz="13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앞을 미리 스윕해 충돌 전 법선 방향으로 회피 · 목표 수심 비례제어 · 등속 보간 회전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환경 &amp; 기술 스택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783080"/>
            <a:ext cx="91440" cy="4160520"/>
          </a:xfrm>
          <a:prstGeom prst="rect">
            <a:avLst/>
          </a:prstGeom>
          <a:solidFill>
            <a:srgbClr val="00D3FF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2359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Unreal Engine 5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69848" y="306324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Lumen 실시간 GI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Nanite 메시 최적화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Water · 수중 환경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70832" y="178308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0832" y="1783080"/>
            <a:ext cx="91440" cy="4160520"/>
          </a:xfrm>
          <a:prstGeom prst="rect">
            <a:avLst/>
          </a:prstGeom>
          <a:solidFill>
            <a:srgbClr val="00E2BE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359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C++ / Blueprint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82312" y="306324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로직 C++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연출·이벤트 BP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모듈형 설계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83296" y="178308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83296" y="1783080"/>
            <a:ext cx="91440" cy="4160520"/>
          </a:xfrm>
          <a:prstGeom prst="rect">
            <a:avLst/>
          </a:prstGeom>
          <a:solidFill>
            <a:srgbClr val="FFCC4D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/ XR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75904" y="2359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DataTable · OpenXR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94776" y="306324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도감 데이터 구동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Subsystem 영구저장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OpenXR VR 입력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— 해양 생물 &amp; 환경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해양 생물 12종과 광활한 심해 환경을 제작했습니다.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205740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231136"/>
            <a:ext cx="365760" cy="365760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16736" y="205740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Blobfish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205740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2231136"/>
            <a:ext cx="365760" cy="365760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16" name="Text 14"/>
          <p:cNvSpPr/>
          <p:nvPr/>
        </p:nvSpPr>
        <p:spPr>
          <a:xfrm>
            <a:off x="3639312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33088" y="205740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Bluetang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91072" y="205740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664" y="2231136"/>
            <a:ext cx="365760" cy="365760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55664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205740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Clione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07424" y="205740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2016" y="2231136"/>
            <a:ext cx="365760" cy="36576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9272016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65792" y="205740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Crownfish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889504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063240"/>
            <a:ext cx="365760" cy="365760"/>
          </a:xfrm>
          <a:prstGeom prst="ellipse">
            <a:avLst/>
          </a:prstGeom>
          <a:solidFill>
            <a:srgbClr val="9A6CFF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16736" y="288950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Lionfish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474720" y="2889504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39312" y="3063240"/>
            <a:ext cx="365760" cy="365760"/>
          </a:xfrm>
          <a:prstGeom prst="ellipse">
            <a:avLst/>
          </a:prstGeom>
          <a:solidFill>
            <a:srgbClr val="53DC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39312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33088" y="288950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Lure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91072" y="2889504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5664" y="3063240"/>
            <a:ext cx="365760" cy="365760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288950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Mandarine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07424" y="2889504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72016" y="3063240"/>
            <a:ext cx="365760" cy="365760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40" name="Text 38"/>
          <p:cNvSpPr/>
          <p:nvPr/>
        </p:nvSpPr>
        <p:spPr>
          <a:xfrm>
            <a:off x="9272016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765792" y="288950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Seahorse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58368" y="3721608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" y="3895344"/>
            <a:ext cx="365760" cy="365760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316736" y="3721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Shark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474720" y="3721608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39312" y="3895344"/>
            <a:ext cx="365760" cy="36576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8" name="Text 46"/>
          <p:cNvSpPr/>
          <p:nvPr/>
        </p:nvSpPr>
        <p:spPr>
          <a:xfrm>
            <a:off x="3639312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133088" y="3721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Turtle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291072" y="3721608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55664" y="3895344"/>
            <a:ext cx="365760" cy="365760"/>
          </a:xfrm>
          <a:prstGeom prst="ellipse">
            <a:avLst/>
          </a:prstGeom>
          <a:solidFill>
            <a:srgbClr val="9A6CFF"/>
          </a:solidFill>
          <a:ln/>
        </p:spPr>
      </p:sp>
      <p:sp>
        <p:nvSpPr>
          <p:cNvPr id="52" name="Text 50"/>
          <p:cNvSpPr/>
          <p:nvPr/>
        </p:nvSpPr>
        <p:spPr>
          <a:xfrm>
            <a:off x="6455664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949440" y="3721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Whale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107424" y="3721608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72016" y="3895344"/>
            <a:ext cx="365760" cy="365760"/>
          </a:xfrm>
          <a:prstGeom prst="ellipse">
            <a:avLst/>
          </a:prstGeom>
          <a:solidFill>
            <a:srgbClr val="53DCFF"/>
          </a:solidFill>
          <a:ln/>
        </p:spPr>
      </p:sp>
      <p:sp>
        <p:nvSpPr>
          <p:cNvPr id="56" name="Text 54"/>
          <p:cNvSpPr/>
          <p:nvPr/>
        </p:nvSpPr>
        <p:spPr>
          <a:xfrm>
            <a:off x="9272016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765792" y="3721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Octopus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58368" y="512064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60120" y="5257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심해 환경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960120" y="5623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산호초 군락 · 해초 숲 · 침몰한 고대 유적 · 거대 고래뼈 · 심해 기지(DeepWaterStation)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→ 기말, 완성한 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BUILD STATUS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중간발표의 '기반 구조'를 실제 동작하는 '완성된 시연 흐름'으로 연결했습니다.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2057400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" y="205740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27048" y="205740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 락온 + 생물별 스캔 시간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9632" y="2057400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05740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68312" y="205740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소나 → 발견 → 스캔 → 도감 연결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58368" y="3044952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304495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27048" y="3044952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도감 영구 저장(Subsystem)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99632" y="3044952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304495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68312" y="3044952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손목 수심계(다이제틱 UI)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8368" y="4032504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6968" y="403250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27048" y="4032504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스캔/소나 효과음 + BGM 자동 덕킹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99632" y="4032504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28232" y="403250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68312" y="4032504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생물 AI: 유영·회피·도망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58368" y="5020056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86968" y="502005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27048" y="5020056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수심 기반 자동 스폰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199632" y="5020056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28232" y="502005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68312" y="5020056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해양 생물 12종 + 심해 환경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271516" y="1828800"/>
            <a:ext cx="1645920" cy="1645920"/>
          </a:xfrm>
          <a:prstGeom prst="ellipse">
            <a:avLst/>
          </a:prstGeom>
          <a:solidFill>
            <a:srgbClr val="00D3FF"/>
          </a:solidFill>
          <a:ln/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36108" y="18288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11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397764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7F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시연 영상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2분  ·  탐사 → 소나 발견 → 스캔 → 도감 등록의 실제 플레이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8686800" cy="7772400"/>
          </a:xfrm>
          <a:prstGeom prst="ellipse">
            <a:avLst/>
          </a:prstGeom>
          <a:solidFill>
            <a:srgbClr val="0A3A5E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8096" y="18105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7F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심해의 발견을 도감에 담다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 심해 탐사 + 소나·스캔으로 홀로그램 도감 수집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설계 · 영구 저장으로 확장성 확보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반응하는 생물 AI로 살아있는 심해 구현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35204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해양 생물 종 추가 및 희귀종 도입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미션/퀘스트 · 사진 모드 등 콘텐츠 확장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사운드·비주얼 폴리싱으로 몰입 강화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  ·  Unreal Engine 5  ·  OpenXR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DIVE VR 기말 발표</dc:title>
  <dc:subject>PptxGenJS Presentation</dc:subject>
  <dc:creator>DEEP DIVE VR Team</dc:creator>
  <cp:lastModifiedBy>DEEP DIVE VR Team</cp:lastModifiedBy>
  <cp:revision>1</cp:revision>
  <dcterms:created xsi:type="dcterms:W3CDTF">2026-06-09T14:39:10Z</dcterms:created>
  <dcterms:modified xsi:type="dcterms:W3CDTF">2026-06-09T14:39:10Z</dcterms:modified>
</cp:coreProperties>
</file>